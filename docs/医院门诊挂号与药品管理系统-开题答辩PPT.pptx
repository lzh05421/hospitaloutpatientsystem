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2000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3999" y="1026000"/>
            <a:ext cx="3960000" cy="1044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基于 Qt 和 MySQL 的</a:t>
            </a:r>
            <a:br/>
            <a:r>
              <a:t>医院门诊挂号与药品管理系统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2178000"/>
            <a:ext cx="3600000" cy="270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00" b="0">
                <a:solidFill>
                  <a:srgbClr val="C7DCE9"/>
                </a:solidFill>
                <a:latin typeface="微软雅黑"/>
              </a:defRPr>
            </a:pPr>
            <a:r>
              <a:t>开题答辩 | Qt/C++ · MySQL · C/S 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4968000"/>
            <a:ext cx="3600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100" b="0">
                <a:solidFill>
                  <a:srgbClr val="D9E8EF"/>
                </a:solidFill>
                <a:latin typeface="微软雅黑"/>
              </a:defRPr>
            </a:pPr>
            <a:r>
              <a:t>软件学院 · 计算机科学与技术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5274000"/>
            <a:ext cx="3888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100" b="0">
                <a:solidFill>
                  <a:srgbClr val="D9E8EF"/>
                </a:solidFill>
                <a:latin typeface="微软雅黑"/>
              </a:defRPr>
            </a:pPr>
            <a:r>
              <a:t>学生：刘子航    指导教师：李长毅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000" y="1152000"/>
            <a:ext cx="1512000" cy="522000"/>
          </a:xfrm>
          <a:prstGeom prst="roundRect">
            <a:avLst/>
          </a:prstGeom>
          <a:solidFill>
            <a:srgbClr val="F8FBFD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886000" y="1278000"/>
            <a:ext cx="316800" cy="3168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2000" y="1252800"/>
            <a:ext cx="88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168A8F"/>
                </a:solidFill>
                <a:latin typeface="微软雅黑"/>
              </a:defRPr>
            </a:pPr>
            <a:r>
              <a:t>患者预约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20000" y="1152000"/>
            <a:ext cx="1512000" cy="522000"/>
          </a:xfrm>
          <a:prstGeom prst="roundRect">
            <a:avLst/>
          </a:prstGeom>
          <a:solidFill>
            <a:srgbClr val="F8FBFD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000" y="1278000"/>
            <a:ext cx="316800" cy="316800"/>
          </a:xfrm>
          <a:prstGeom prst="ellipse">
            <a:avLst/>
          </a:prstGeom>
          <a:solidFill>
            <a:srgbClr val="3D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2000" y="1252800"/>
            <a:ext cx="88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3D8B63"/>
                </a:solidFill>
                <a:latin typeface="微软雅黑"/>
              </a:defRPr>
            </a:pPr>
            <a:r>
              <a:t>挂号候诊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0000" y="2628000"/>
            <a:ext cx="1512000" cy="522000"/>
          </a:xfrm>
          <a:prstGeom prst="roundRect">
            <a:avLst/>
          </a:prstGeom>
          <a:solidFill>
            <a:srgbClr val="F8FBFD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06000" y="2754000"/>
            <a:ext cx="316800" cy="316800"/>
          </a:xfrm>
          <a:prstGeom prst="ellipse">
            <a:avLst/>
          </a:prstGeom>
          <a:solidFill>
            <a:srgbClr val="D57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02000" y="2728800"/>
            <a:ext cx="88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D57A35"/>
                </a:solidFill>
                <a:latin typeface="微软雅黑"/>
              </a:defRPr>
            </a:pPr>
            <a:r>
              <a:t>医生接诊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60000" y="4104000"/>
            <a:ext cx="1512000" cy="522000"/>
          </a:xfrm>
          <a:prstGeom prst="roundRect">
            <a:avLst/>
          </a:prstGeom>
          <a:solidFill>
            <a:srgbClr val="F8FBFD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86000" y="4230000"/>
            <a:ext cx="316800" cy="3168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2000" y="4204800"/>
            <a:ext cx="88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168A8F"/>
                </a:solidFill>
                <a:latin typeface="微软雅黑"/>
              </a:defRPr>
            </a:pPr>
            <a:r>
              <a:t>处方药房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80000" y="4104000"/>
            <a:ext cx="1512000" cy="522000"/>
          </a:xfrm>
          <a:prstGeom prst="roundRect">
            <a:avLst/>
          </a:prstGeom>
          <a:solidFill>
            <a:srgbClr val="F8FBFD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06000" y="4230000"/>
            <a:ext cx="316800" cy="316800"/>
          </a:xfrm>
          <a:prstGeom prst="ellipse">
            <a:avLst/>
          </a:prstGeom>
          <a:solidFill>
            <a:srgbClr val="3D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2000" y="4204800"/>
            <a:ext cx="88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3D8B63"/>
                </a:solidFill>
                <a:latin typeface="微软雅黑"/>
              </a:defRPr>
            </a:pPr>
            <a:r>
              <a:t>收费统计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272000" y="1422000"/>
            <a:ext cx="648000" cy="0"/>
          </a:xfrm>
          <a:prstGeom prst="line">
            <a:avLst/>
          </a:prstGeom>
          <a:ln w="17780">
            <a:solidFill>
              <a:srgbClr val="B7C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676000" y="1674000"/>
            <a:ext cx="504000" cy="954000"/>
          </a:xfrm>
          <a:prstGeom prst="line">
            <a:avLst/>
          </a:prstGeom>
          <a:ln w="17780">
            <a:solidFill>
              <a:srgbClr val="B7C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8352000" y="3131999"/>
            <a:ext cx="828000" cy="972001"/>
          </a:xfrm>
          <a:prstGeom prst="line">
            <a:avLst/>
          </a:prstGeom>
          <a:ln w="17780">
            <a:solidFill>
              <a:srgbClr val="B7C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092000" y="4374000"/>
            <a:ext cx="468000" cy="0"/>
          </a:xfrm>
          <a:prstGeom prst="line">
            <a:avLst/>
          </a:prstGeom>
          <a:ln w="17780">
            <a:solidFill>
              <a:srgbClr val="B7C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340000" y="6498000"/>
            <a:ext cx="432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34000"/>
            <a:ext cx="9288000" cy="34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微软雅黑"/>
              </a:defRPr>
            </a:pPr>
            <a:r>
              <a:t>课题背景：门诊业务需要数字化闭环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8000" y="576000"/>
            <a:ext cx="9900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传统窗口型处理难以支撑多角色协同、实时状态和数据追溯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84000" y="270000"/>
            <a:ext cx="846000" cy="234000"/>
          </a:xfrm>
          <a:prstGeom prst="roundRect">
            <a:avLst/>
          </a:prstGeom>
          <a:solidFill>
            <a:srgbClr val="EAF3F7"/>
          </a:solidFill>
          <a:ln>
            <a:solidFill>
              <a:srgbClr val="D6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" rIns="10800" tIns="10800" bIns="108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080000"/>
            <a:ext cx="1584000" cy="396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ctr">
              <a:defRPr sz="3000" b="1">
                <a:solidFill>
                  <a:srgbClr val="168A8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458000"/>
            <a:ext cx="1584000" cy="2088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ctr">
              <a:defRPr sz="1000" b="0">
                <a:solidFill>
                  <a:srgbClr val="667085"/>
                </a:solidFill>
                <a:latin typeface="微软雅黑"/>
              </a:defRPr>
            </a:pPr>
            <a:r>
              <a:t>高频场景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0000" y="1080000"/>
            <a:ext cx="1584000" cy="396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ctr">
              <a:defRPr sz="3000" b="1">
                <a:solidFill>
                  <a:srgbClr val="D57A35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0" y="1458000"/>
            <a:ext cx="1584000" cy="2088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ctr">
              <a:defRPr sz="1000" b="0">
                <a:solidFill>
                  <a:srgbClr val="667085"/>
                </a:solidFill>
                <a:latin typeface="微软雅黑"/>
              </a:defRPr>
            </a:pPr>
            <a:r>
              <a:t>关键割裂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0" y="1080000"/>
            <a:ext cx="1584000" cy="396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ctr">
              <a:defRPr sz="3000" b="1">
                <a:solidFill>
                  <a:srgbClr val="3D8B6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0" y="1458000"/>
            <a:ext cx="1584000" cy="2088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ctr">
              <a:defRPr sz="1000" b="0">
                <a:solidFill>
                  <a:srgbClr val="667085"/>
                </a:solidFill>
                <a:latin typeface="微软雅黑"/>
              </a:defRPr>
            </a:pPr>
            <a:r>
              <a:t>完整闭环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000" y="1872000"/>
            <a:ext cx="3528000" cy="149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799" y="1972800"/>
            <a:ext cx="32544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168A8F"/>
                </a:solidFill>
                <a:latin typeface="微软雅黑"/>
              </a:defRPr>
            </a:pPr>
            <a:r>
              <a:t>现实问题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799" y="2232000"/>
            <a:ext cx="3254400" cy="1062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患者信息重复录入，窗口处理效率低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排班、挂号、候诊和收费状态变化快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药品库存、处方和账单数据容易割裂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0" y="1872000"/>
            <a:ext cx="3528000" cy="149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6800" y="1972800"/>
            <a:ext cx="32544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3D8B63"/>
                </a:solidFill>
                <a:latin typeface="微软雅黑"/>
              </a:defRPr>
            </a:pPr>
            <a:r>
              <a:t>建设方向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6800" y="2232000"/>
            <a:ext cx="3254400" cy="1062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围绕预约诊疗和智慧医院建设要求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把患者服务、医生诊疗、药房收费一体化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通过统计和日志提高管理可视化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0000" y="1872000"/>
            <a:ext cx="3240000" cy="149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6800" y="1972800"/>
            <a:ext cx="29664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D57A35"/>
                </a:solidFill>
                <a:latin typeface="微软雅黑"/>
              </a:defRPr>
            </a:pPr>
            <a:r>
              <a:t>课题价值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6800" y="2232000"/>
            <a:ext cx="2966400" cy="1062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覆盖 Qt 客户端、TCP 服务端和 MySQL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训练需求分析、数据库设计和系统实现能力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贴近真实医院门诊基础业务形态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40000" y="6498000"/>
            <a:ext cx="432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34000"/>
            <a:ext cx="9288000" cy="34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微软雅黑"/>
              </a:defRPr>
            </a:pPr>
            <a:r>
              <a:t>系统目标与使用对象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8000" y="576000"/>
            <a:ext cx="9900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目标不是单一挂号页面，而是门诊挂号、诊疗、药品、收费的基础业务链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84000" y="270000"/>
            <a:ext cx="846000" cy="234000"/>
          </a:xfrm>
          <a:prstGeom prst="roundRect">
            <a:avLst/>
          </a:prstGeom>
          <a:solidFill>
            <a:srgbClr val="EAF3F7"/>
          </a:solidFill>
          <a:ln>
            <a:solidFill>
              <a:srgbClr val="D6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" rIns="10800" tIns="10800" bIns="108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954000"/>
            <a:ext cx="3168000" cy="234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6799" y="1054800"/>
            <a:ext cx="28944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168A8F"/>
                </a:solidFill>
                <a:latin typeface="微软雅黑"/>
              </a:defRPr>
            </a:pPr>
            <a:r>
              <a:t>建设目标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6799" y="1314000"/>
            <a:ext cx="2894400" cy="1908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患者可查询排班并预约挂号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医院人员按角色进入不同业务页面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排班号源、挂号候诊、处方库存、收费统计形成联动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服务端统一维护权限、业务规则和数据访问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60000" y="954000"/>
            <a:ext cx="2232000" cy="88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86000" y="1080000"/>
            <a:ext cx="316800" cy="3168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2000" y="1054800"/>
            <a:ext cx="160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168A8F"/>
                </a:solidFill>
                <a:latin typeface="微软雅黑"/>
              </a:defRPr>
            </a:pPr>
            <a:r>
              <a:t>患者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6800" y="1314000"/>
            <a:ext cx="1958400" cy="450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预约挂号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6000" y="954000"/>
            <a:ext cx="2232000" cy="88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42000" y="1080000"/>
            <a:ext cx="316800" cy="316800"/>
          </a:xfrm>
          <a:prstGeom prst="ellipse">
            <a:avLst/>
          </a:prstGeom>
          <a:solidFill>
            <a:srgbClr val="3D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8000" y="1054800"/>
            <a:ext cx="160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3D8B63"/>
                </a:solidFill>
                <a:latin typeface="微软雅黑"/>
              </a:defRPr>
            </a:pPr>
            <a:r>
              <a:t>挂号员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2800" y="1314000"/>
            <a:ext cx="1958400" cy="450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建档/挂号/叫号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72000" y="954000"/>
            <a:ext cx="2232000" cy="88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98000" y="1080000"/>
            <a:ext cx="316800" cy="316800"/>
          </a:xfrm>
          <a:prstGeom prst="ellipse">
            <a:avLst/>
          </a:prstGeom>
          <a:solidFill>
            <a:srgbClr val="D57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4000" y="1054800"/>
            <a:ext cx="160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D57A35"/>
                </a:solidFill>
                <a:latin typeface="微软雅黑"/>
              </a:defRPr>
            </a:pPr>
            <a:r>
              <a:t>医生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800" y="1314000"/>
            <a:ext cx="1958400" cy="450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接诊/病历/检查/处方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60000" y="2160000"/>
            <a:ext cx="2232000" cy="88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86000" y="2286000"/>
            <a:ext cx="316800" cy="3168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2000" y="2260800"/>
            <a:ext cx="160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168A8F"/>
                </a:solidFill>
                <a:latin typeface="微软雅黑"/>
              </a:defRPr>
            </a:pPr>
            <a:r>
              <a:t>药房人员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800" y="2520000"/>
            <a:ext cx="1958400" cy="450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审核/发药/库存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16000" y="2160000"/>
            <a:ext cx="2232000" cy="88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42000" y="2286000"/>
            <a:ext cx="316800" cy="316800"/>
          </a:xfrm>
          <a:prstGeom prst="ellipse">
            <a:avLst/>
          </a:prstGeom>
          <a:solidFill>
            <a:srgbClr val="3D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38000" y="2260800"/>
            <a:ext cx="160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3D8B63"/>
                </a:solidFill>
                <a:latin typeface="微软雅黑"/>
              </a:defRPr>
            </a:pPr>
            <a:r>
              <a:t>收费员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2800" y="2520000"/>
            <a:ext cx="1958400" cy="450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账单/支付/统计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72000" y="2160000"/>
            <a:ext cx="2232000" cy="88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98000" y="2286000"/>
            <a:ext cx="316800" cy="316800"/>
          </a:xfrm>
          <a:prstGeom prst="ellipse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94000" y="2260800"/>
            <a:ext cx="1602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17324D"/>
                </a:solidFill>
                <a:latin typeface="微软雅黑"/>
              </a:defRPr>
            </a:pPr>
            <a:r>
              <a:t>管理员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08800" y="2520000"/>
            <a:ext cx="1958400" cy="450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基础数据/日志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40000" y="6498000"/>
            <a:ext cx="432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34000"/>
            <a:ext cx="9288000" cy="34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微软雅黑"/>
              </a:defRPr>
            </a:pPr>
            <a:r>
              <a:t>功能边界：医院端页面 + 患者预约入口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8000" y="576000"/>
            <a:ext cx="9900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源码中已形成菜单权限、页面模块和服务模块的对应关系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84000" y="270000"/>
            <a:ext cx="846000" cy="234000"/>
          </a:xfrm>
          <a:prstGeom prst="roundRect">
            <a:avLst/>
          </a:prstGeom>
          <a:solidFill>
            <a:srgbClr val="EAF3F7"/>
          </a:solidFill>
          <a:ln>
            <a:solidFill>
              <a:srgbClr val="D6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" rIns="10800" tIns="10800" bIns="108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917999"/>
            <a:ext cx="3420000" cy="264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6799" y="1018800"/>
            <a:ext cx="31464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168A8F"/>
                </a:solidFill>
                <a:latin typeface="微软雅黑"/>
              </a:defRPr>
            </a:pPr>
            <a:r>
              <a:t>基础与权限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6799" y="1278000"/>
            <a:ext cx="3146400" cy="2214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院长驾驶舱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患者管理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科室管理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医生管理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操作日志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8000" y="917999"/>
            <a:ext cx="3420000" cy="264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4800" y="1018800"/>
            <a:ext cx="31464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3D8B63"/>
                </a:solidFill>
                <a:latin typeface="微软雅黑"/>
              </a:defRPr>
            </a:pPr>
            <a:r>
              <a:t>门诊诊疗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4800" y="1278000"/>
            <a:ext cx="3146400" cy="2214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挂号管理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候诊队列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患者病历档案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医生排班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医生接诊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检查检验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6000" y="917999"/>
            <a:ext cx="3420000" cy="264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2800" y="1018800"/>
            <a:ext cx="31464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D57A35"/>
                </a:solidFill>
                <a:latin typeface="微软雅黑"/>
              </a:defRPr>
            </a:pPr>
            <a:r>
              <a:t>药品收费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2800" y="1278000"/>
            <a:ext cx="3146400" cy="2214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处方管理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药品库存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收费结算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费用统计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55999" y="3960000"/>
            <a:ext cx="8640000" cy="972000"/>
          </a:xfrm>
          <a:prstGeom prst="roundRect">
            <a:avLst/>
          </a:prstGeom>
          <a:solidFill>
            <a:srgbClr val="EEF5F7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92799" y="4060800"/>
            <a:ext cx="83663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17324D"/>
                </a:solidFill>
                <a:latin typeface="微软雅黑"/>
              </a:defRPr>
            </a:pPr>
            <a:r>
              <a:t>权限控制思路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92799" y="4320000"/>
            <a:ext cx="8366399" cy="540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管理员拥有全部权限；科主任偏向诊疗与统计；挂号员负责患者、挂号和排班；医生负责接诊、检查和处方；药房负责库存和发药；收费员负责账单和收入统计。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40000" y="6498000"/>
            <a:ext cx="432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34000"/>
            <a:ext cx="9288000" cy="34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微软雅黑"/>
              </a:defRPr>
            </a:pPr>
            <a:r>
              <a:t>系统功能结构图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8000" y="576000"/>
            <a:ext cx="9900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按照当前项目页面、服务模块和数据库业务链重新整理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84000" y="270000"/>
            <a:ext cx="846000" cy="234000"/>
          </a:xfrm>
          <a:prstGeom prst="roundRect">
            <a:avLst/>
          </a:prstGeom>
          <a:solidFill>
            <a:srgbClr val="EAF3F7"/>
          </a:solidFill>
          <a:ln>
            <a:solidFill>
              <a:srgbClr val="D6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" rIns="10800" tIns="10800" bIns="108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pic>
        <p:nvPicPr>
          <p:cNvPr id="6" name="Picture 5" descr="系统功能结构图-重绘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00" y="882000"/>
            <a:ext cx="11160000" cy="54083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40000" y="6498000"/>
            <a:ext cx="432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34000"/>
            <a:ext cx="9288000" cy="34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微软雅黑"/>
              </a:defRPr>
            </a:pPr>
            <a:r>
              <a:t>门诊业务主流程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8000" y="576000"/>
            <a:ext cx="9900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从患者预约到收费统计，形成可追溯的闭环链路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84000" y="270000"/>
            <a:ext cx="846000" cy="234000"/>
          </a:xfrm>
          <a:prstGeom prst="roundRect">
            <a:avLst/>
          </a:prstGeom>
          <a:solidFill>
            <a:srgbClr val="EAF3F7"/>
          </a:solidFill>
          <a:ln>
            <a:solidFill>
              <a:srgbClr val="D6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" rIns="10800" tIns="10800" bIns="108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440000"/>
            <a:ext cx="1278000" cy="82799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86000" y="1565999"/>
            <a:ext cx="316800" cy="3168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000" y="1540800"/>
            <a:ext cx="647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168A8F"/>
                </a:solidFill>
                <a:latin typeface="微软雅黑"/>
              </a:defRPr>
            </a:pPr>
            <a:r>
              <a:t>患者建档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6799" y="1800000"/>
            <a:ext cx="1004400" cy="395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基础信息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38000" y="1854000"/>
            <a:ext cx="154799" cy="0"/>
          </a:xfrm>
          <a:prstGeom prst="line">
            <a:avLst/>
          </a:prstGeom>
          <a:ln w="17780">
            <a:solidFill>
              <a:srgbClr val="B7C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10799" y="1440000"/>
            <a:ext cx="1278000" cy="82799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36799" y="1565999"/>
            <a:ext cx="316800" cy="316800"/>
          </a:xfrm>
          <a:prstGeom prst="ellipse">
            <a:avLst/>
          </a:prstGeom>
          <a:solidFill>
            <a:srgbClr val="3D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2800" y="1540800"/>
            <a:ext cx="647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3D8B63"/>
                </a:solidFill>
                <a:latin typeface="微软雅黑"/>
              </a:defRPr>
            </a:pPr>
            <a:r>
              <a:t>排班号源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7599" y="1800000"/>
            <a:ext cx="1004400" cy="395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医生/日期/余号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88799" y="1854000"/>
            <a:ext cx="154800" cy="0"/>
          </a:xfrm>
          <a:prstGeom prst="line">
            <a:avLst/>
          </a:prstGeom>
          <a:ln w="17780">
            <a:solidFill>
              <a:srgbClr val="B7C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261599" y="1440000"/>
            <a:ext cx="1278000" cy="82799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387599" y="1565999"/>
            <a:ext cx="316800" cy="316800"/>
          </a:xfrm>
          <a:prstGeom prst="ellipse">
            <a:avLst/>
          </a:prstGeom>
          <a:solidFill>
            <a:srgbClr val="D57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3599" y="1540800"/>
            <a:ext cx="647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D57A35"/>
                </a:solidFill>
                <a:latin typeface="微软雅黑"/>
              </a:defRPr>
            </a:pPr>
            <a:r>
              <a:t>预约挂号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8400" y="1800000"/>
            <a:ext cx="1004400" cy="395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生成挂号单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39600" y="1854000"/>
            <a:ext cx="154800" cy="0"/>
          </a:xfrm>
          <a:prstGeom prst="line">
            <a:avLst/>
          </a:prstGeom>
          <a:ln w="17780">
            <a:solidFill>
              <a:srgbClr val="B7C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712399" y="1440000"/>
            <a:ext cx="1278000" cy="82799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38399" y="1565999"/>
            <a:ext cx="316800" cy="316800"/>
          </a:xfrm>
          <a:prstGeom prst="ellipse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4399" y="1540800"/>
            <a:ext cx="647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17324D"/>
                </a:solidFill>
                <a:latin typeface="微软雅黑"/>
              </a:defRPr>
            </a:pPr>
            <a:r>
              <a:t>候诊叫号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9200" y="1800000"/>
            <a:ext cx="1004400" cy="395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进入医生队列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90399" y="1854000"/>
            <a:ext cx="154800" cy="0"/>
          </a:xfrm>
          <a:prstGeom prst="line">
            <a:avLst/>
          </a:prstGeom>
          <a:ln w="17780">
            <a:solidFill>
              <a:srgbClr val="B7C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163199" y="1440000"/>
            <a:ext cx="1278000" cy="82799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289200" y="1565999"/>
            <a:ext cx="316800" cy="3168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85199" y="1540800"/>
            <a:ext cx="647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168A8F"/>
                </a:solidFill>
                <a:latin typeface="微软雅黑"/>
              </a:defRPr>
            </a:pPr>
            <a:r>
              <a:t>接诊检查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9999" y="1800000"/>
            <a:ext cx="1004400" cy="395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病历/检查单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41199" y="1854000"/>
            <a:ext cx="154800" cy="0"/>
          </a:xfrm>
          <a:prstGeom prst="line">
            <a:avLst/>
          </a:prstGeom>
          <a:ln w="17780">
            <a:solidFill>
              <a:srgbClr val="B7C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613999" y="1440000"/>
            <a:ext cx="1278000" cy="82799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40000" y="1565999"/>
            <a:ext cx="316800" cy="316800"/>
          </a:xfrm>
          <a:prstGeom prst="ellipse">
            <a:avLst/>
          </a:prstGeom>
          <a:solidFill>
            <a:srgbClr val="3D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5999" y="1540800"/>
            <a:ext cx="647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3D8B63"/>
                </a:solidFill>
                <a:latin typeface="微软雅黑"/>
              </a:defRPr>
            </a:pPr>
            <a:r>
              <a:t>处方发药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50799" y="1800000"/>
            <a:ext cx="1004400" cy="395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审核/出库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892000" y="1854000"/>
            <a:ext cx="154800" cy="0"/>
          </a:xfrm>
          <a:prstGeom prst="line">
            <a:avLst/>
          </a:prstGeom>
          <a:ln w="17780">
            <a:solidFill>
              <a:srgbClr val="B7C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064799" y="1440000"/>
            <a:ext cx="1278000" cy="82799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90800" y="1565999"/>
            <a:ext cx="316800" cy="316800"/>
          </a:xfrm>
          <a:prstGeom prst="ellipse">
            <a:avLst/>
          </a:prstGeom>
          <a:solidFill>
            <a:srgbClr val="D57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86799" y="1540800"/>
            <a:ext cx="647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D57A35"/>
                </a:solidFill>
                <a:latin typeface="微软雅黑"/>
              </a:defRPr>
            </a:pPr>
            <a:r>
              <a:t>收费结算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01599" y="1800000"/>
            <a:ext cx="1004400" cy="395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账单/支付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342799" y="1854000"/>
            <a:ext cx="154800" cy="0"/>
          </a:xfrm>
          <a:prstGeom prst="line">
            <a:avLst/>
          </a:prstGeom>
          <a:ln w="17780">
            <a:solidFill>
              <a:srgbClr val="B7C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0515599" y="1440000"/>
            <a:ext cx="1278000" cy="82799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641599" y="1565999"/>
            <a:ext cx="316800" cy="316800"/>
          </a:xfrm>
          <a:prstGeom prst="ellipse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37599" y="1540800"/>
            <a:ext cx="647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17324D"/>
                </a:solidFill>
                <a:latin typeface="微软雅黑"/>
              </a:defRPr>
            </a:pPr>
            <a:r>
              <a:t>统计日志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399" y="1800000"/>
            <a:ext cx="1004400" cy="395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收入/追溯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0000" y="3240000"/>
            <a:ext cx="2520000" cy="324000"/>
          </a:xfrm>
          <a:prstGeom prst="roundRect">
            <a:avLst/>
          </a:prstGeom>
          <a:solidFill>
            <a:srgbClr val="EEF7F8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6800" y="3340800"/>
            <a:ext cx="22464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168A8F"/>
                </a:solidFill>
                <a:latin typeface="微软雅黑"/>
              </a:defRPr>
            </a:pPr>
            <a:r>
              <a:t>患者/挂号员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56000" y="3276000"/>
            <a:ext cx="7920000" cy="216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微软雅黑"/>
              </a:defRPr>
            </a:pPr>
            <a:r>
              <a:t>患者信息、挂号单、预约时段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0000" y="3726000"/>
            <a:ext cx="2520000" cy="324000"/>
          </a:xfrm>
          <a:prstGeom prst="roundRect">
            <a:avLst/>
          </a:prstGeom>
          <a:solidFill>
            <a:srgbClr val="EEF7F8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6800" y="3826799"/>
            <a:ext cx="22464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168A8F"/>
                </a:solidFill>
                <a:latin typeface="微软雅黑"/>
              </a:defRPr>
            </a:pPr>
            <a:r>
              <a:t>医生/检查人员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56000" y="3761999"/>
            <a:ext cx="7920000" cy="216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微软雅黑"/>
              </a:defRPr>
            </a:pPr>
            <a:r>
              <a:t>候诊队列、病历记录、检查结果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0000" y="4212000"/>
            <a:ext cx="2520000" cy="324000"/>
          </a:xfrm>
          <a:prstGeom prst="roundRect">
            <a:avLst/>
          </a:prstGeom>
          <a:solidFill>
            <a:srgbClr val="EEF7F8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6800" y="4312799"/>
            <a:ext cx="22464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168A8F"/>
                </a:solidFill>
                <a:latin typeface="微软雅黑"/>
              </a:defRPr>
            </a:pPr>
            <a:r>
              <a:t>药房/收费员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56000" y="4248000"/>
            <a:ext cx="7920000" cy="216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微软雅黑"/>
              </a:defRPr>
            </a:pPr>
            <a:r>
              <a:t>处方状态、库存出库、账单支付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0000" y="4698000"/>
            <a:ext cx="2520000" cy="324000"/>
          </a:xfrm>
          <a:prstGeom prst="roundRect">
            <a:avLst/>
          </a:prstGeom>
          <a:solidFill>
            <a:srgbClr val="EEF7F8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6800" y="4798800"/>
            <a:ext cx="22464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168A8F"/>
                </a:solidFill>
                <a:latin typeface="微软雅黑"/>
              </a:defRPr>
            </a:pPr>
            <a:r>
              <a:t>管理员/科主任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56000" y="4734000"/>
            <a:ext cx="7920000" cy="216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微软雅黑"/>
              </a:defRPr>
            </a:pPr>
            <a:r>
              <a:t>科室医生、排班规则、统计看板、日志审计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40000" y="6498000"/>
            <a:ext cx="432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34000"/>
            <a:ext cx="9288000" cy="34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微软雅黑"/>
              </a:defRPr>
            </a:pPr>
            <a:r>
              <a:t>技术架构：Qt/C++ 客户端 + Qt TCP 服务端 + MySQL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8000" y="576000"/>
            <a:ext cx="9900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客户端专注交互，服务端统一业务规则，数据库集中保存数据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84000" y="270000"/>
            <a:ext cx="846000" cy="234000"/>
          </a:xfrm>
          <a:prstGeom prst="roundRect">
            <a:avLst/>
          </a:prstGeom>
          <a:solidFill>
            <a:srgbClr val="EAF3F7"/>
          </a:solidFill>
          <a:ln>
            <a:solidFill>
              <a:srgbClr val="D6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" rIns="10800" tIns="10800" bIns="108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080000"/>
            <a:ext cx="2556000" cy="223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6799" y="1180800"/>
            <a:ext cx="22824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168A8F"/>
                </a:solidFill>
                <a:latin typeface="微软雅黑"/>
              </a:defRPr>
            </a:pPr>
            <a:r>
              <a:t>客户端表现层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6799" y="1440000"/>
            <a:ext cx="2282400" cy="1800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Qt Widgets 桌面界面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患者预约入口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角色菜单与表格页面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16000" y="2196000"/>
            <a:ext cx="360000" cy="0"/>
          </a:xfrm>
          <a:prstGeom prst="line">
            <a:avLst/>
          </a:prstGeom>
          <a:ln w="17780">
            <a:solidFill>
              <a:srgbClr val="B7C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76000" y="1080000"/>
            <a:ext cx="2556000" cy="223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2800" y="1180800"/>
            <a:ext cx="22824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3D8B63"/>
                </a:solidFill>
                <a:latin typeface="微软雅黑"/>
              </a:defRPr>
            </a:pPr>
            <a:r>
              <a:t>网络通信层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2800" y="1440000"/>
            <a:ext cx="2282400" cy="1800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QTcpSocket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TCP + JSON Lines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统一请求/响应结构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32000" y="2196000"/>
            <a:ext cx="360000" cy="0"/>
          </a:xfrm>
          <a:prstGeom prst="line">
            <a:avLst/>
          </a:prstGeom>
          <a:ln w="17780">
            <a:solidFill>
              <a:srgbClr val="B7C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92000" y="1080000"/>
            <a:ext cx="2556000" cy="223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8799" y="1180800"/>
            <a:ext cx="22824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D57A35"/>
                </a:solidFill>
                <a:latin typeface="微软雅黑"/>
              </a:defRPr>
            </a:pPr>
            <a:r>
              <a:t>服务端业务层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8799" y="1440000"/>
            <a:ext cx="2282400" cy="1800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HospitalServer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RequestRouter 鉴权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业务 Service 分发处理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47999" y="2196000"/>
            <a:ext cx="360000" cy="0"/>
          </a:xfrm>
          <a:prstGeom prst="line">
            <a:avLst/>
          </a:prstGeom>
          <a:ln w="17780">
            <a:solidFill>
              <a:srgbClr val="B7C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07999" y="1080000"/>
            <a:ext cx="2556000" cy="223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4799" y="1180800"/>
            <a:ext cx="22824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17324D"/>
                </a:solidFill>
                <a:latin typeface="微软雅黑"/>
              </a:defRPr>
            </a:pPr>
            <a:r>
              <a:t>数据持久层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799" y="1440000"/>
            <a:ext cx="2282400" cy="1800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MySQL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QODBC/QMYSQL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演示模式兜底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52000" y="4031999"/>
            <a:ext cx="9828000" cy="864000"/>
          </a:xfrm>
          <a:prstGeom prst="roundRect">
            <a:avLst/>
          </a:prstGeom>
          <a:solidFill>
            <a:srgbClr val="EEF5F7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8800" y="4132799"/>
            <a:ext cx="95544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168A8F"/>
                </a:solidFill>
                <a:latin typeface="微软雅黑"/>
              </a:defRPr>
            </a:pPr>
            <a:r>
              <a:t>设计要点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8800" y="4392000"/>
            <a:ext cx="9554400" cy="432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客户端不直接操作数据库，服务端负责权限校验和业务一致性；数据库集中保存患者、医生、排班、挂号、病历、处方、药品、账单、支付、统计和日志数据。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40000" y="6498000"/>
            <a:ext cx="432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34000"/>
            <a:ext cx="9288000" cy="34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微软雅黑"/>
              </a:defRPr>
            </a:pPr>
            <a:r>
              <a:t>数据库设计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8000" y="576000"/>
            <a:ext cx="9900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围绕角色、基础资料、诊疗业务、药品收费四组核心数据建模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84000" y="270000"/>
            <a:ext cx="846000" cy="234000"/>
          </a:xfrm>
          <a:prstGeom prst="roundRect">
            <a:avLst/>
          </a:prstGeom>
          <a:solidFill>
            <a:srgbClr val="EAF3F7"/>
          </a:solidFill>
          <a:ln>
            <a:solidFill>
              <a:srgbClr val="D6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" rIns="10800" tIns="10800" bIns="108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972000"/>
            <a:ext cx="2664000" cy="241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6799" y="1072800"/>
            <a:ext cx="23904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168A8F"/>
                </a:solidFill>
                <a:latin typeface="微软雅黑"/>
              </a:defRPr>
            </a:pPr>
            <a:r>
              <a:t>账号权限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6799" y="1332000"/>
            <a:ext cx="2390400" cy="1980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roles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users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operation_logs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audit_log_details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24000" y="2142000"/>
            <a:ext cx="287999" cy="0"/>
          </a:xfrm>
          <a:prstGeom prst="line">
            <a:avLst/>
          </a:prstGeom>
          <a:ln w="17780">
            <a:solidFill>
              <a:srgbClr val="B7C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11999" y="972000"/>
            <a:ext cx="2664000" cy="241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8800" y="1072800"/>
            <a:ext cx="23904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3D8B63"/>
                </a:solidFill>
                <a:latin typeface="微软雅黑"/>
              </a:defRPr>
            </a:pPr>
            <a:r>
              <a:t>基础资料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8800" y="1332000"/>
            <a:ext cx="2390400" cy="1980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departments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doctors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patients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doctor_schedules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76000" y="2142000"/>
            <a:ext cx="287999" cy="0"/>
          </a:xfrm>
          <a:prstGeom prst="line">
            <a:avLst/>
          </a:prstGeom>
          <a:ln w="17780">
            <a:solidFill>
              <a:srgbClr val="B7C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63999" y="972000"/>
            <a:ext cx="2664000" cy="241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799" y="1072800"/>
            <a:ext cx="23904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D57A35"/>
                </a:solidFill>
                <a:latin typeface="微软雅黑"/>
              </a:defRPr>
            </a:pPr>
            <a:r>
              <a:t>诊疗业务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799" y="1332000"/>
            <a:ext cx="2390400" cy="1980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registrations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medical_records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examinations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prescriptions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27999" y="2142000"/>
            <a:ext cx="288001" cy="0"/>
          </a:xfrm>
          <a:prstGeom prst="line">
            <a:avLst/>
          </a:prstGeom>
          <a:ln w="17780">
            <a:solidFill>
              <a:srgbClr val="B7C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216000" y="972000"/>
            <a:ext cx="2664000" cy="241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2799" y="1072800"/>
            <a:ext cx="23904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17324D"/>
                </a:solidFill>
                <a:latin typeface="微软雅黑"/>
              </a:defRPr>
            </a:pPr>
            <a:r>
              <a:t>药品收费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2799" y="1332000"/>
            <a:ext cx="2390400" cy="1980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drug_categories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drugs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prescription_items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stock_records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bills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payments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fee_statistics_daily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0000" y="3960000"/>
            <a:ext cx="3311999" cy="558000"/>
          </a:xfrm>
          <a:prstGeom prst="roundRect">
            <a:avLst/>
          </a:prstGeom>
          <a:solidFill>
            <a:srgbClr val="F8FBFD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6000" y="4086000"/>
            <a:ext cx="316800" cy="3168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2000" y="4060800"/>
            <a:ext cx="2681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168A8F"/>
                </a:solidFill>
                <a:latin typeface="微软雅黑"/>
              </a:defRPr>
            </a:pPr>
            <a:r>
              <a:t>患者/医生/排班生成挂号记录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36000" y="3960000"/>
            <a:ext cx="3311999" cy="558000"/>
          </a:xfrm>
          <a:prstGeom prst="roundRect">
            <a:avLst/>
          </a:prstGeom>
          <a:solidFill>
            <a:srgbClr val="F8FBFD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62000" y="4086000"/>
            <a:ext cx="316800" cy="316800"/>
          </a:xfrm>
          <a:prstGeom prst="ellipse">
            <a:avLst/>
          </a:prstGeom>
          <a:solidFill>
            <a:srgbClr val="3D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58000" y="4060800"/>
            <a:ext cx="2681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3D8B63"/>
                </a:solidFill>
                <a:latin typeface="微软雅黑"/>
              </a:defRPr>
            </a:pPr>
            <a:r>
              <a:t>挂号关联病历、检查和处方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52000" y="3960000"/>
            <a:ext cx="3311999" cy="558000"/>
          </a:xfrm>
          <a:prstGeom prst="roundRect">
            <a:avLst/>
          </a:prstGeom>
          <a:solidFill>
            <a:srgbClr val="F8FBFD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78000" y="4086000"/>
            <a:ext cx="316800" cy="316800"/>
          </a:xfrm>
          <a:prstGeom prst="ellipse">
            <a:avLst/>
          </a:prstGeom>
          <a:solidFill>
            <a:srgbClr val="D57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4000" y="4060800"/>
            <a:ext cx="2681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D57A35"/>
                </a:solidFill>
                <a:latin typeface="微软雅黑"/>
              </a:defRPr>
            </a:pPr>
            <a:r>
              <a:t>处方关联药品库存，账单和支付完成收费闭环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40000" y="6498000"/>
            <a:ext cx="432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34000"/>
            <a:ext cx="9288000" cy="34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微软雅黑"/>
              </a:defRPr>
            </a:pPr>
            <a:r>
              <a:t>核心实现方案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8000" y="576000"/>
            <a:ext cx="9900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用项目中的真实工程结构支撑答辩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84000" y="270000"/>
            <a:ext cx="846000" cy="234000"/>
          </a:xfrm>
          <a:prstGeom prst="roundRect">
            <a:avLst/>
          </a:prstGeom>
          <a:solidFill>
            <a:srgbClr val="EAF3F7"/>
          </a:solidFill>
          <a:ln>
            <a:solidFill>
              <a:srgbClr val="D6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" rIns="10800" tIns="10800" bIns="108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007999"/>
            <a:ext cx="2556000" cy="194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86000" y="1134000"/>
            <a:ext cx="316800" cy="3168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000" y="1108800"/>
            <a:ext cx="1925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168A8F"/>
                </a:solidFill>
                <a:latin typeface="微软雅黑"/>
              </a:defRPr>
            </a:pPr>
            <a:r>
              <a:t>通信协议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6799" y="1368000"/>
            <a:ext cx="2282400" cy="1512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QTcpSocket 长连接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JSON Lines 请求/响应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module + action 定位接口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6000" y="1007999"/>
            <a:ext cx="2556000" cy="194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01999" y="1134000"/>
            <a:ext cx="316800" cy="316800"/>
          </a:xfrm>
          <a:prstGeom prst="ellipse">
            <a:avLst/>
          </a:prstGeom>
          <a:solidFill>
            <a:srgbClr val="3D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7999" y="1108800"/>
            <a:ext cx="1925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3D8B63"/>
                </a:solidFill>
                <a:latin typeface="微软雅黑"/>
              </a:defRPr>
            </a:pPr>
            <a:r>
              <a:t>权限路由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2800" y="1368000"/>
            <a:ext cx="2282400" cy="1512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RequestRouter 统一鉴权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按角色控制模块动作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公开接口仅限排班查询和挂号创建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000" y="1007999"/>
            <a:ext cx="2556000" cy="194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18000" y="1134000"/>
            <a:ext cx="316800" cy="316800"/>
          </a:xfrm>
          <a:prstGeom prst="ellipse">
            <a:avLst/>
          </a:prstGeom>
          <a:solidFill>
            <a:srgbClr val="D57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3999" y="1108800"/>
            <a:ext cx="1925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D57A35"/>
                </a:solidFill>
                <a:latin typeface="微软雅黑"/>
              </a:defRPr>
            </a:pPr>
            <a:r>
              <a:t>业务服务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8799" y="1368000"/>
            <a:ext cx="2282400" cy="1512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Patient/Registration/Schedule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Consultation/Examination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Prescription/Inventory/Billing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7999" y="1007999"/>
            <a:ext cx="2556000" cy="194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34000" y="1134000"/>
            <a:ext cx="316800" cy="316800"/>
          </a:xfrm>
          <a:prstGeom prst="ellipse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9999" y="1108800"/>
            <a:ext cx="19259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17324D"/>
                </a:solidFill>
                <a:latin typeface="微软雅黑"/>
              </a:defRPr>
            </a:pPr>
            <a:r>
              <a:t>数据访问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799" y="1368000"/>
            <a:ext cx="2282400" cy="1512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DatabaseManager 连接 MySQL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QODBC/QMYSQL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连接异常提示与演示模式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3708000"/>
            <a:ext cx="10656000" cy="396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ctr">
              <a:defRPr sz="1600" b="1">
                <a:solidFill>
                  <a:srgbClr val="17324D"/>
                </a:solidFill>
                <a:latin typeface="Consolas"/>
              </a:defRPr>
            </a:pPr>
            <a:r>
              <a:t>ApiClient → Protocol → HospitalServer → RequestRouter → Service → DatabaseManager → MySQL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12000" y="4392000"/>
            <a:ext cx="9144000" cy="756000"/>
          </a:xfrm>
          <a:prstGeom prst="roundRect">
            <a:avLst/>
          </a:prstGeom>
          <a:solidFill>
            <a:srgbClr val="EEF5F7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8800" y="4492799"/>
            <a:ext cx="8870399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168A8F"/>
                </a:solidFill>
                <a:latin typeface="微软雅黑"/>
              </a:defRPr>
            </a:pPr>
            <a:r>
              <a:t>答辩强调点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8800" y="4752000"/>
            <a:ext cx="8870399" cy="324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系统不是固定演示数据：患者预约、医生排班、药品入库等核心写入均可落到 MySQL；页面支持查询、分页、刷新和状态维护。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40000" y="6498000"/>
            <a:ext cx="432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34000"/>
            <a:ext cx="9288000" cy="34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微软雅黑"/>
              </a:defRPr>
            </a:pPr>
            <a:r>
              <a:t>工作方案与进度安排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8000" y="576000"/>
            <a:ext cx="9900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按软件工程过程推进，每个阶段都有明确产出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84000" y="270000"/>
            <a:ext cx="846000" cy="234000"/>
          </a:xfrm>
          <a:prstGeom prst="roundRect">
            <a:avLst/>
          </a:prstGeom>
          <a:solidFill>
            <a:srgbClr val="EAF3F7"/>
          </a:solidFill>
          <a:ln>
            <a:solidFill>
              <a:srgbClr val="D6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" rIns="10800" tIns="10800" bIns="108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475999"/>
            <a:ext cx="1674000" cy="165599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86000" y="1601999"/>
            <a:ext cx="316800" cy="3168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000" y="1576800"/>
            <a:ext cx="1044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168A8F"/>
                </a:solidFill>
                <a:latin typeface="微软雅黑"/>
              </a:defRPr>
            </a:pPr>
            <a:r>
              <a:t>需求与开题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6799" y="1835999"/>
            <a:ext cx="1400400" cy="1223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2025.12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调研/需求/模块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34000" y="2304000"/>
            <a:ext cx="216000" cy="0"/>
          </a:xfrm>
          <a:prstGeom prst="line">
            <a:avLst/>
          </a:prstGeom>
          <a:ln w="17780">
            <a:solidFill>
              <a:srgbClr val="B7C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286000" y="1475999"/>
            <a:ext cx="1674000" cy="165599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11999" y="1601999"/>
            <a:ext cx="316800" cy="316800"/>
          </a:xfrm>
          <a:prstGeom prst="ellipse">
            <a:avLst/>
          </a:prstGeom>
          <a:solidFill>
            <a:srgbClr val="3D8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8000" y="1576800"/>
            <a:ext cx="1044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3D8B63"/>
                </a:solidFill>
                <a:latin typeface="微软雅黑"/>
              </a:defRPr>
            </a:pPr>
            <a:r>
              <a:t>总体设计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2800" y="1835999"/>
            <a:ext cx="1400400" cy="1223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2026.01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架构/数据库/原型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60000" y="2304000"/>
            <a:ext cx="216000" cy="0"/>
          </a:xfrm>
          <a:prstGeom prst="line">
            <a:avLst/>
          </a:prstGeom>
          <a:ln w="17780">
            <a:solidFill>
              <a:srgbClr val="B7C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12000" y="1475999"/>
            <a:ext cx="1674000" cy="165599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38000" y="1601999"/>
            <a:ext cx="316800" cy="316800"/>
          </a:xfrm>
          <a:prstGeom prst="ellipse">
            <a:avLst/>
          </a:prstGeom>
          <a:solidFill>
            <a:srgbClr val="D57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3999" y="1576800"/>
            <a:ext cx="1044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D57A35"/>
                </a:solidFill>
                <a:latin typeface="微软雅黑"/>
              </a:defRPr>
            </a:pPr>
            <a:r>
              <a:t>核心开发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8800" y="1835999"/>
            <a:ext cx="1400400" cy="1223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2026.02-03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挂号/排班/接诊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86000" y="2304000"/>
            <a:ext cx="216000" cy="0"/>
          </a:xfrm>
          <a:prstGeom prst="line">
            <a:avLst/>
          </a:prstGeom>
          <a:ln w="17780">
            <a:solidFill>
              <a:srgbClr val="B7C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37999" y="1475999"/>
            <a:ext cx="1674000" cy="165599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63999" y="1601999"/>
            <a:ext cx="316800" cy="316800"/>
          </a:xfrm>
          <a:prstGeom prst="ellipse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9999" y="1576800"/>
            <a:ext cx="1044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17324D"/>
                </a:solidFill>
                <a:latin typeface="微软雅黑"/>
              </a:defRPr>
            </a:pPr>
            <a:r>
              <a:t>扩展开发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4799" y="1835999"/>
            <a:ext cx="1400400" cy="1223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2026.03-04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检查/处方/收费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11999" y="2304000"/>
            <a:ext cx="216000" cy="0"/>
          </a:xfrm>
          <a:prstGeom prst="line">
            <a:avLst/>
          </a:prstGeom>
          <a:ln w="17780">
            <a:solidFill>
              <a:srgbClr val="B7C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063999" y="1475999"/>
            <a:ext cx="1674000" cy="165599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190000" y="1601999"/>
            <a:ext cx="316800" cy="316800"/>
          </a:xfrm>
          <a:prstGeom prst="ellipse">
            <a:avLst/>
          </a:prstGeom>
          <a:solidFill>
            <a:srgbClr val="B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86000" y="1576800"/>
            <a:ext cx="1044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B84A4A"/>
                </a:solidFill>
                <a:latin typeface="微软雅黑"/>
              </a:defRPr>
            </a:pPr>
            <a:r>
              <a:t>测试部署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0799" y="1835999"/>
            <a:ext cx="1400400" cy="1223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2026.04-05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联调、多环境验证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737999" y="2304000"/>
            <a:ext cx="216001" cy="0"/>
          </a:xfrm>
          <a:prstGeom prst="line">
            <a:avLst/>
          </a:prstGeom>
          <a:ln w="17780">
            <a:solidFill>
              <a:srgbClr val="B7C5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990000" y="1475999"/>
            <a:ext cx="1674000" cy="165599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16000" y="1601999"/>
            <a:ext cx="316800" cy="3168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2000" y="1576800"/>
            <a:ext cx="1044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168A8F"/>
                </a:solidFill>
                <a:latin typeface="微软雅黑"/>
              </a:defRPr>
            </a:pPr>
            <a:r>
              <a:t>论文答辩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26800" y="1835999"/>
            <a:ext cx="1400400" cy="1223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2026.05-06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论文修改、PPT、提交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24000" y="3960000"/>
            <a:ext cx="9720000" cy="972000"/>
          </a:xfrm>
          <a:prstGeom prst="roundRect">
            <a:avLst/>
          </a:prstGeom>
          <a:solidFill>
            <a:srgbClr val="EEF5F7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60800" y="4060800"/>
            <a:ext cx="94464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3D8B63"/>
                </a:solidFill>
                <a:latin typeface="微软雅黑"/>
              </a:defRPr>
            </a:pPr>
            <a:r>
              <a:t>测试重点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60800" y="4320000"/>
            <a:ext cx="9446400" cy="540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按患者、挂号员、医生、药房人员、收费员、科主任、管理员等角色分别验证；重点检查号源扣减、候诊状态、处方发药、库存变化、收费统计和操作日志。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40000" y="6498000"/>
            <a:ext cx="432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34000"/>
            <a:ext cx="9288000" cy="34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微软雅黑"/>
              </a:defRPr>
            </a:pPr>
            <a:r>
              <a:t>预期成果与项目特色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8000" y="576000"/>
            <a:ext cx="9900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答辩时突出完整业务链和工程化实现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84000" y="270000"/>
            <a:ext cx="846000" cy="234000"/>
          </a:xfrm>
          <a:prstGeom prst="roundRect">
            <a:avLst/>
          </a:prstGeom>
          <a:solidFill>
            <a:srgbClr val="EAF3F7"/>
          </a:solidFill>
          <a:ln>
            <a:solidFill>
              <a:srgbClr val="D6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" rIns="10800" tIns="10800" bIns="108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954000"/>
            <a:ext cx="3456000" cy="237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6799" y="1054800"/>
            <a:ext cx="31824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168A8F"/>
                </a:solidFill>
                <a:latin typeface="微软雅黑"/>
              </a:defRPr>
            </a:pPr>
            <a:r>
              <a:t>预期成果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6799" y="1314000"/>
            <a:ext cx="3182400" cy="1943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可运行的 C/S 门诊管理系统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MySQL 建库脚本和演示数据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跨平台构建与运行脚本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开题报告、毕业论文、答辩 PPT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0" y="954000"/>
            <a:ext cx="3456000" cy="237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6800" y="1054800"/>
            <a:ext cx="31824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3D8B63"/>
                </a:solidFill>
                <a:latin typeface="微软雅黑"/>
              </a:defRPr>
            </a:pPr>
            <a:r>
              <a:t>项目特色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6800" y="1314000"/>
            <a:ext cx="3182400" cy="1943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患者入口与医院人员入口分离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角色权限驱动菜单和接口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排班号源影响预约挂号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处方、药品、收费形成联动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0000" y="954000"/>
            <a:ext cx="3240000" cy="237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6800" y="1054800"/>
            <a:ext cx="29664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D57A35"/>
                </a:solidFill>
                <a:latin typeface="微软雅黑"/>
              </a:defRPr>
            </a:pPr>
            <a:r>
              <a:t>可展示亮点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6800" y="1314000"/>
            <a:ext cx="2966400" cy="1943999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候诊队列与叫号状态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扫码入库与库存预警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院长驾驶舱与费用统计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操作日志与审计追踪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40000" y="6498000"/>
            <a:ext cx="432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"/>
          </a:xfrm>
          <a:prstGeom prst="rect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34000"/>
            <a:ext cx="9288000" cy="34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2400" b="1">
                <a:solidFill>
                  <a:srgbClr val="17324D"/>
                </a:solidFill>
                <a:latin typeface="微软雅黑"/>
              </a:defRPr>
            </a:pPr>
            <a:r>
              <a:t>风险分析与解决措施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8000" y="576000"/>
            <a:ext cx="9900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980" b="0">
                <a:solidFill>
                  <a:srgbClr val="667085"/>
                </a:solidFill>
                <a:latin typeface="微软雅黑"/>
              </a:defRPr>
            </a:pPr>
            <a:r>
              <a:t>提前准备答辩老师可能关注的问题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84000" y="270000"/>
            <a:ext cx="846000" cy="234000"/>
          </a:xfrm>
          <a:prstGeom prst="roundRect">
            <a:avLst/>
          </a:prstGeom>
          <a:solidFill>
            <a:srgbClr val="EAF3F7"/>
          </a:solidFill>
          <a:ln>
            <a:solidFill>
              <a:srgbClr val="D6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" rIns="10800" tIns="10800" bIns="10800"/>
          <a:lstStyle/>
          <a:p>
            <a:pPr algn="ctr">
              <a:defRPr sz="900">
                <a:solidFill>
                  <a:srgbClr val="168A8F"/>
                </a:solidFill>
                <a:latin typeface="微软雅黑"/>
              </a:defRPr>
            </a:pPr>
            <a:r>
              <a:t>开题答辩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3384000" cy="266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57999" y="1206000"/>
            <a:ext cx="316800" cy="316800"/>
          </a:xfrm>
          <a:prstGeom prst="ellipse">
            <a:avLst/>
          </a:prstGeom>
          <a:solidFill>
            <a:srgbClr val="B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4000" y="1180800"/>
            <a:ext cx="2754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B84A4A"/>
                </a:solidFill>
                <a:latin typeface="微软雅黑"/>
              </a:defRPr>
            </a:pPr>
            <a:r>
              <a:t>数据库环境差异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8800" y="1440000"/>
            <a:ext cx="3110400" cy="2232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配置文件管理连接参数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支持 QODBC/QMYSQL 两种方向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保留演示模式验证界面和流程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6000" y="1080000"/>
            <a:ext cx="3384000" cy="266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82000" y="1206000"/>
            <a:ext cx="316800" cy="316800"/>
          </a:xfrm>
          <a:prstGeom prst="ellipse">
            <a:avLst/>
          </a:prstGeom>
          <a:solidFill>
            <a:srgbClr val="D57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8000" y="1180800"/>
            <a:ext cx="2754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D57A35"/>
                </a:solidFill>
                <a:latin typeface="微软雅黑"/>
              </a:defRPr>
            </a:pPr>
            <a:r>
              <a:t>业务状态不同步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2800" y="1440000"/>
            <a:ext cx="3110400" cy="2232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挂号成功扣减号源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列表支持手动刷新和自动刷新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核心状态由服务端统一维护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80000" y="1080000"/>
            <a:ext cx="3384000" cy="266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06000" y="1206000"/>
            <a:ext cx="316800" cy="316800"/>
          </a:xfrm>
          <a:prstGeom prst="ellipse">
            <a:avLst/>
          </a:prstGeom>
          <a:solidFill>
            <a:srgbClr val="168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2000" y="1180800"/>
            <a:ext cx="27540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168A8F"/>
                </a:solidFill>
                <a:latin typeface="微软雅黑"/>
              </a:defRPr>
            </a:pPr>
            <a:r>
              <a:t>模块多导致测试遗漏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6800" y="1440000"/>
            <a:ext cx="3110400" cy="2232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按角色设计测试用例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从建档到收费做端到端验证</a:t>
            </a:r>
          </a:p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操作日志辅助定位问题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40000" y="4392000"/>
            <a:ext cx="9288000" cy="792000"/>
          </a:xfrm>
          <a:prstGeom prst="roundRect">
            <a:avLst/>
          </a:prstGeom>
          <a:solidFill>
            <a:srgbClr val="EEF5F7"/>
          </a:solidFill>
          <a:ln w="10160">
            <a:solidFill>
              <a:srgbClr val="D8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76800" y="4492799"/>
            <a:ext cx="9014400" cy="19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l">
              <a:defRPr sz="1280" b="1">
                <a:solidFill>
                  <a:srgbClr val="17324D"/>
                </a:solidFill>
                <a:latin typeface="微软雅黑"/>
              </a:defRPr>
            </a:pPr>
            <a:r>
              <a:t>答辩准备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6800" y="4752000"/>
            <a:ext cx="9014400" cy="360000"/>
          </a:xfrm>
          <a:prstGeom prst="rect">
            <a:avLst/>
          </a:prstGeom>
          <a:noFill/>
        </p:spPr>
        <p:txBody>
          <a:bodyPr wrap="none" lIns="10800" rIns="10800" tIns="10800" bIns="10800" anchor="ctr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344054"/>
                </a:solidFill>
                <a:latin typeface="微软雅黑"/>
              </a:defRPr>
            </a:pPr>
            <a:r>
              <a:t>现场演示优先走主流程：患者预约 → 医院端挂号管理 → 候诊叫号 → 医生接诊 → 处方/药品 → 收费统计。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40000" y="6498000"/>
            <a:ext cx="432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0" y="2268000"/>
            <a:ext cx="8568000" cy="486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请各位老师批评指正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0" y="2951999"/>
            <a:ext cx="8568000" cy="288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ctr">
              <a:defRPr sz="1400" b="0">
                <a:solidFill>
                  <a:srgbClr val="C7DCE9"/>
                </a:solidFill>
                <a:latin typeface="微软雅黑"/>
              </a:defRPr>
            </a:pPr>
            <a:r>
              <a:t>基于 Qt 和 MySQL 的医院门诊挂号与药品管理系统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0" y="3401999"/>
            <a:ext cx="8568000" cy="234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ctr">
              <a:defRPr sz="1100" b="0">
                <a:solidFill>
                  <a:srgbClr val="D9E8EF"/>
                </a:solidFill>
                <a:latin typeface="微软雅黑"/>
              </a:defRPr>
            </a:pPr>
            <a:r>
              <a:t>学生：刘子航    指导教师：李长毅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40000" y="6498000"/>
            <a:ext cx="432000" cy="162000"/>
          </a:xfrm>
          <a:prstGeom prst="rect">
            <a:avLst/>
          </a:prstGeom>
          <a:noFill/>
        </p:spPr>
        <p:txBody>
          <a:bodyPr wrap="none" lIns="14400" rIns="14400" tIns="14400" bIns="14400" anchor="ctr">
            <a:spAutoFit/>
          </a:bodyPr>
          <a:lstStyle/>
          <a:p>
            <a:pPr algn="r">
              <a:defRPr sz="850" b="0">
                <a:solidFill>
                  <a:srgbClr val="667085"/>
                </a:solidFill>
                <a:latin typeface="Arial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