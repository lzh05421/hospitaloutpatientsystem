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2000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6000" y="1026000"/>
            <a:ext cx="4031999" cy="1080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基于 Qt 和 MySQL 的</a:t>
            </a:r>
            <a:br/>
            <a:r>
              <a:t>医院门诊挂号与药品管理系统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999" y="2250000"/>
            <a:ext cx="3671999" cy="251999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00" b="0">
                <a:solidFill>
                  <a:srgbClr val="C9DDE8"/>
                </a:solidFill>
                <a:latin typeface="微软雅黑"/>
              </a:defRPr>
            </a:pPr>
            <a:r>
              <a:t>开题答辩 | Qt/C++ · MySQL · C/S 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999" y="4932000"/>
            <a:ext cx="3671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100" b="0">
                <a:solidFill>
                  <a:srgbClr val="DCE9EF"/>
                </a:solidFill>
                <a:latin typeface="微软雅黑"/>
              </a:defRPr>
            </a:pPr>
            <a:r>
              <a:t>软件学院 · 计算机科学与技术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999" y="5238000"/>
            <a:ext cx="396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100" b="0">
                <a:solidFill>
                  <a:srgbClr val="DCE9EF"/>
                </a:solidFill>
                <a:latin typeface="微软雅黑"/>
              </a:defRPr>
            </a:pPr>
            <a:r>
              <a:t>学生：刘子航    指导教师：李长毅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0" y="1080000"/>
            <a:ext cx="1530000" cy="503999"/>
          </a:xfrm>
          <a:prstGeom prst="roundRect">
            <a:avLst/>
          </a:prstGeom>
          <a:solidFill>
            <a:srgbClr val="F8FBFD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82400" y="120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1200" y="1173600"/>
            <a:ext cx="91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患者预约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2000" y="1080000"/>
            <a:ext cx="1530000" cy="503999"/>
          </a:xfrm>
          <a:prstGeom prst="roundRect">
            <a:avLst/>
          </a:prstGeom>
          <a:solidFill>
            <a:srgbClr val="F8FBFD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4400" y="1202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200" y="1173600"/>
            <a:ext cx="91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挂号候诊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52000" y="2592000"/>
            <a:ext cx="1530000" cy="503999"/>
          </a:xfrm>
          <a:prstGeom prst="roundRect">
            <a:avLst/>
          </a:prstGeom>
          <a:solidFill>
            <a:srgbClr val="F8FBFD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4400" y="2714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3200" y="2685600"/>
            <a:ext cx="91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医生接诊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0000" y="4068000"/>
            <a:ext cx="1530000" cy="503999"/>
          </a:xfrm>
          <a:prstGeom prst="roundRect">
            <a:avLst/>
          </a:prstGeom>
          <a:solidFill>
            <a:srgbClr val="F8FBFD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82400" y="4190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1200" y="4161600"/>
            <a:ext cx="91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处方药房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88000" y="4068000"/>
            <a:ext cx="1530000" cy="503999"/>
          </a:xfrm>
          <a:prstGeom prst="roundRect">
            <a:avLst/>
          </a:prstGeom>
          <a:solidFill>
            <a:srgbClr val="F8FBFD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0400" y="4190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200" y="4161600"/>
            <a:ext cx="91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收费统计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90000" y="1332000"/>
            <a:ext cx="702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66000" y="1530000"/>
            <a:ext cx="486000" cy="106200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333999" y="3078000"/>
            <a:ext cx="918001" cy="99000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218000" y="4320000"/>
            <a:ext cx="342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课题背景：门诊业务需要一个数据闭环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挂号、候诊、诊疗、药品、收费和统计之间需要实时同步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936000"/>
            <a:ext cx="1332000" cy="360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3000" b="1">
                <a:solidFill>
                  <a:srgbClr val="168A8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" y="1288800"/>
            <a:ext cx="13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950" b="0">
                <a:solidFill>
                  <a:srgbClr val="667085"/>
                </a:solidFill>
                <a:latin typeface="微软雅黑"/>
              </a:defRPr>
            </a:pPr>
            <a:r>
              <a:t>高频环节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0000" y="936000"/>
            <a:ext cx="1332000" cy="360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3000" b="1">
                <a:solidFill>
                  <a:srgbClr val="D782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1288800"/>
            <a:ext cx="13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950" b="0">
                <a:solidFill>
                  <a:srgbClr val="667085"/>
                </a:solidFill>
                <a:latin typeface="微软雅黑"/>
              </a:defRPr>
            </a:pPr>
            <a:r>
              <a:t>角色协同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4000" y="936000"/>
            <a:ext cx="1332000" cy="360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3000" b="1">
                <a:solidFill>
                  <a:srgbClr val="3C8C6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4000" y="1288800"/>
            <a:ext cx="13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950" b="0">
                <a:solidFill>
                  <a:srgbClr val="667085"/>
                </a:solidFill>
                <a:latin typeface="微软雅黑"/>
              </a:defRPr>
            </a:pPr>
            <a:r>
              <a:t>业务闭环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1872000"/>
            <a:ext cx="3420000" cy="144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200" y="1965600"/>
            <a:ext cx="3117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现实问题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200" y="2217600"/>
            <a:ext cx="3117600" cy="102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纸质单据或表格容易重复录入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号源、候诊、收费状态变化快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药品库存、处方和账单容易割裂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0" y="1872000"/>
            <a:ext cx="3420000" cy="144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200" y="1965600"/>
            <a:ext cx="3117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系统价值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200" y="2217600"/>
            <a:ext cx="3117600" cy="102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把患者服务、医生诊疗、药房收费连接起来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通过统一数据库保证数据一致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操作日志和统计图表支撑管理追溯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0000" y="1872000"/>
            <a:ext cx="3204000" cy="144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1200" y="1965600"/>
            <a:ext cx="2901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毕设训练点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1200" y="2217600"/>
            <a:ext cx="2901600" cy="102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Qt 桌面端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TCP 服务端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MySQL 数据库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跨平台构建和测试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系统目标与用户角色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患者入口和医院人员入口分离，内部人员按角色使用不同业务模块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917999"/>
            <a:ext cx="3204000" cy="241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1200" y="1011599"/>
            <a:ext cx="2901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建设目标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200" y="1263600"/>
            <a:ext cx="2901600" cy="199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患者可查询排班并预约挂号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医院人员通过账号密码登录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服务端统一完成权限校验和业务处理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MySQL 保存患者、医生、挂号、处方、库存、账单等数据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96000" y="917999"/>
            <a:ext cx="2232000" cy="88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8400" y="1040399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200" y="1011599"/>
            <a:ext cx="162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患者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7200" y="1263600"/>
            <a:ext cx="1929600" cy="46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预约挂号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52000" y="917999"/>
            <a:ext cx="2232000" cy="88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4400" y="1040399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3199" y="1011599"/>
            <a:ext cx="162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挂号员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3200" y="1263600"/>
            <a:ext cx="1929600" cy="46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建档/挂号/叫号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7999" y="917999"/>
            <a:ext cx="2232000" cy="88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0399" y="1040399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9200" y="1011599"/>
            <a:ext cx="162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医生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200" y="1263600"/>
            <a:ext cx="1929600" cy="46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接诊/检查/处方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96000" y="2124000"/>
            <a:ext cx="2232000" cy="88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18400" y="2246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200" y="2217600"/>
            <a:ext cx="162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药房人员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7200" y="2469600"/>
            <a:ext cx="1929600" cy="46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审核/发药/库存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2000" y="2124000"/>
            <a:ext cx="2232000" cy="88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74400" y="2246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3199" y="2217600"/>
            <a:ext cx="162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收费员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3200" y="2469600"/>
            <a:ext cx="1929600" cy="46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账单/支付/统计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07999" y="2124000"/>
            <a:ext cx="2232000" cy="88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30399" y="2246400"/>
            <a:ext cx="309600" cy="309600"/>
          </a:xfrm>
          <a:prstGeom prst="ellipse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200" y="2217600"/>
            <a:ext cx="162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管理员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9200" y="2469600"/>
            <a:ext cx="1929600" cy="46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基础数据/日志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功能范围：按项目真实页面和服务重新梳理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不再固定 12 个模块，也不强行每个模块 3 个子功能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846000"/>
            <a:ext cx="5112000" cy="1674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1200" y="939600"/>
            <a:ext cx="4809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入口与基础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200" y="1191600"/>
            <a:ext cx="4809600" cy="126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入口与登录</a:t>
            </a:r>
          </a:p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权限与日志</a:t>
            </a:r>
          </a:p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院长驾驶舱</a:t>
            </a:r>
          </a:p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通用列表能力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0000" y="846000"/>
            <a:ext cx="5112000" cy="1674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1200" y="939600"/>
            <a:ext cx="4809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门诊主流程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1200" y="1191600"/>
            <a:ext cx="4809600" cy="126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患者预约挂号</a:t>
            </a:r>
          </a:p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患者管理</a:t>
            </a:r>
          </a:p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挂号管理</a:t>
            </a:r>
          </a:p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候诊队列</a:t>
            </a:r>
          </a:p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患者病历档案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2700000"/>
            <a:ext cx="5112000" cy="1674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200" y="2793600"/>
            <a:ext cx="4809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诊疗与药房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200" y="3045600"/>
            <a:ext cx="4809600" cy="126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科室管理</a:t>
            </a:r>
          </a:p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医生管理</a:t>
            </a:r>
          </a:p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医生排班</a:t>
            </a:r>
          </a:p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医生接诊</a:t>
            </a:r>
          </a:p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检查检验</a:t>
            </a:r>
          </a:p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处方管理</a:t>
            </a:r>
          </a:p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药品库存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0000" y="2700000"/>
            <a:ext cx="5112000" cy="1674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1200" y="2793600"/>
            <a:ext cx="4809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收费与运维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1200" y="3045600"/>
            <a:ext cx="4809600" cy="126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收费结算</a:t>
            </a:r>
          </a:p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费用统计</a:t>
            </a:r>
          </a:p>
          <a:p>
            <a:pPr>
              <a:spcAft>
                <a:spcPts val="350"/>
              </a:spcAft>
              <a:defRPr sz="890">
                <a:solidFill>
                  <a:srgbClr val="344054"/>
                </a:solidFill>
                <a:latin typeface="微软雅黑"/>
              </a:defRPr>
            </a:pPr>
            <a:r>
              <a:t>系统配置部署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12000" y="4806000"/>
            <a:ext cx="9144000" cy="522000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63200" y="4899600"/>
            <a:ext cx="8841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全功能版口径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3200" y="5151600"/>
            <a:ext cx="8841600" cy="10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880">
                <a:solidFill>
                  <a:srgbClr val="344054"/>
                </a:solidFill>
                <a:latin typeface="微软雅黑"/>
              </a:defRPr>
            </a:pPr>
            <a:r>
              <a:t>结构图包含 19 个模块、139 个功能点，来源于 MainWindow 菜单、页面按钮、服务端 action 和数据库表。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系统功能结构图（全功能版）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按当前项目所有主要页面、服务动作和通用能力展开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pic>
        <p:nvPicPr>
          <p:cNvPr id="6" name="Picture 5" descr="系统功能结构图-全功能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00" y="756000"/>
            <a:ext cx="11627999" cy="66445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门诊业务主流程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用一条主线说明系统如何从患者预约走到收费统计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440000"/>
            <a:ext cx="1278000" cy="82079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2400" y="156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200" y="1533600"/>
            <a:ext cx="666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患者建档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200" y="1785600"/>
            <a:ext cx="975600" cy="4067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基础信息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38000" y="1850400"/>
            <a:ext cx="172799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10799" y="1440000"/>
            <a:ext cx="1278000" cy="82079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33199" y="1562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1999" y="1533600"/>
            <a:ext cx="666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排班号源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1999" y="1785600"/>
            <a:ext cx="975600" cy="4067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医生/日期/余号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88799" y="1850400"/>
            <a:ext cx="1728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61599" y="1440000"/>
            <a:ext cx="1278000" cy="82079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83999" y="1562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2799" y="1533600"/>
            <a:ext cx="666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预约挂号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2799" y="1785600"/>
            <a:ext cx="975600" cy="4067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生成挂号单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39600" y="1850400"/>
            <a:ext cx="1728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12399" y="1440000"/>
            <a:ext cx="1278000" cy="82079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34799" y="1562400"/>
            <a:ext cx="309600" cy="309600"/>
          </a:xfrm>
          <a:prstGeom prst="ellipse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3599" y="1533600"/>
            <a:ext cx="666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候诊叫号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3599" y="1785600"/>
            <a:ext cx="975600" cy="4067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进入医生队列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90399" y="1850400"/>
            <a:ext cx="1728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63199" y="1440000"/>
            <a:ext cx="1278000" cy="82079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85599" y="156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4400" y="1533600"/>
            <a:ext cx="666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接诊检查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4400" y="1785600"/>
            <a:ext cx="975600" cy="4067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病历/检查单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41199" y="1850400"/>
            <a:ext cx="1728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613999" y="1440000"/>
            <a:ext cx="1278000" cy="82079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36399" y="1562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5200" y="1533600"/>
            <a:ext cx="666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处方发药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65200" y="1785600"/>
            <a:ext cx="975600" cy="4067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审核/出库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92000" y="1850400"/>
            <a:ext cx="1728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064799" y="1440000"/>
            <a:ext cx="1278000" cy="82079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87199" y="1562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5999" y="1533600"/>
            <a:ext cx="666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收费结算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6000" y="1785600"/>
            <a:ext cx="975600" cy="4067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账单/支付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342799" y="1850400"/>
            <a:ext cx="1728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515599" y="1440000"/>
            <a:ext cx="1278000" cy="82079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637999" y="1562400"/>
            <a:ext cx="309600" cy="309600"/>
          </a:xfrm>
          <a:prstGeom prst="ellipse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26799" y="1533600"/>
            <a:ext cx="666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费用统计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66799" y="1785600"/>
            <a:ext cx="975600" cy="4067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收入/图表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0000" y="3276000"/>
            <a:ext cx="2448000" cy="295200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1200" y="3369600"/>
            <a:ext cx="2145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00" b="1">
                <a:solidFill>
                  <a:srgbClr val="168A8F"/>
                </a:solidFill>
                <a:latin typeface="微软雅黑"/>
              </a:defRPr>
            </a:pPr>
            <a:r>
              <a:t>患者/挂号员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4000" y="3304800"/>
            <a:ext cx="7920000" cy="2088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80" b="0">
                <a:solidFill>
                  <a:srgbClr val="1F2937"/>
                </a:solidFill>
                <a:latin typeface="微软雅黑"/>
              </a:defRPr>
            </a:pPr>
            <a:r>
              <a:t>患者信息、挂号单、预约时段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0000" y="3744000"/>
            <a:ext cx="2448000" cy="295200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1200" y="3837600"/>
            <a:ext cx="2145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00" b="1">
                <a:solidFill>
                  <a:srgbClr val="168A8F"/>
                </a:solidFill>
                <a:latin typeface="微软雅黑"/>
              </a:defRPr>
            </a:pPr>
            <a:r>
              <a:t>医生/检查人员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4000" y="3772800"/>
            <a:ext cx="7920000" cy="2088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80" b="0">
                <a:solidFill>
                  <a:srgbClr val="1F2937"/>
                </a:solidFill>
                <a:latin typeface="微软雅黑"/>
              </a:defRPr>
            </a:pPr>
            <a:r>
              <a:t>候诊队列、病历记录、检查结果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0000" y="4212000"/>
            <a:ext cx="2448000" cy="295200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1200" y="4305600"/>
            <a:ext cx="2145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00" b="1">
                <a:solidFill>
                  <a:srgbClr val="168A8F"/>
                </a:solidFill>
                <a:latin typeface="微软雅黑"/>
              </a:defRPr>
            </a:pPr>
            <a:r>
              <a:t>药房/收费员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4000" y="4240800"/>
            <a:ext cx="7920000" cy="2088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80" b="0">
                <a:solidFill>
                  <a:srgbClr val="1F2937"/>
                </a:solidFill>
                <a:latin typeface="微软雅黑"/>
              </a:defRPr>
            </a:pPr>
            <a:r>
              <a:t>处方状态、库存出库、账单支付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0000" y="4680000"/>
            <a:ext cx="2448000" cy="295200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1200" y="4773600"/>
            <a:ext cx="2145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00" b="1">
                <a:solidFill>
                  <a:srgbClr val="168A8F"/>
                </a:solidFill>
                <a:latin typeface="微软雅黑"/>
              </a:defRPr>
            </a:pPr>
            <a:r>
              <a:t>管理员/科主任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4000" y="4708800"/>
            <a:ext cx="7920000" cy="2088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80" b="0">
                <a:solidFill>
                  <a:srgbClr val="1F2937"/>
                </a:solidFill>
                <a:latin typeface="微软雅黑"/>
              </a:defRPr>
            </a:pPr>
            <a:r>
              <a:t>科室医生、排班规则、统计看板、日志审计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技术架构：Qt/C++ 客户端 + Qt TCP 服务端 + MySQL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客户端负责交互，服务端负责权限和业务规则，数据库负责持久化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2556000" cy="223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2400" y="120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200" y="1173600"/>
            <a:ext cx="1943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客户端表现层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200" y="1425600"/>
            <a:ext cx="2253600" cy="181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Qt Widgets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患者预约入口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角色菜单和业务页面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16000" y="2196000"/>
            <a:ext cx="360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76000" y="1080000"/>
            <a:ext cx="2556000" cy="223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98400" y="1202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7200" y="1173600"/>
            <a:ext cx="1943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网络通信层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7200" y="1425600"/>
            <a:ext cx="2253600" cy="181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QTcpSocket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TCP + JSON Lines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统一请求/响应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32000" y="2196000"/>
            <a:ext cx="360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92000" y="1080000"/>
            <a:ext cx="2556000" cy="223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14400" y="1202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3199" y="1173600"/>
            <a:ext cx="1943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服务端业务层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3200" y="1425600"/>
            <a:ext cx="2253600" cy="181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HospitalServer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RequestRouter 鉴权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业务 Service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47999" y="2196000"/>
            <a:ext cx="360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07999" y="1080000"/>
            <a:ext cx="2556000" cy="223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30399" y="1202400"/>
            <a:ext cx="309600" cy="309600"/>
          </a:xfrm>
          <a:prstGeom prst="ellipse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200" y="1173600"/>
            <a:ext cx="1943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数据持久层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9200" y="1425600"/>
            <a:ext cx="2253600" cy="181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MySQL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QODBC/QMYSQL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演示模式兜底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3960000"/>
            <a:ext cx="10584000" cy="2952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1450" b="1">
                <a:solidFill>
                  <a:srgbClr val="14324A"/>
                </a:solidFill>
                <a:latin typeface="Consolas"/>
              </a:defRPr>
            </a:pPr>
            <a:r>
              <a:t>ApiClient → Protocol → HospitalServer → RequestRouter → Service → DatabaseManager → MySQL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40000" y="4464000"/>
            <a:ext cx="9288000" cy="737999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91200" y="4557600"/>
            <a:ext cx="8985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架构优势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1200" y="4809600"/>
            <a:ext cx="8985600" cy="323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客户端不直接操作数据库，内部权限由服务端统一控制；业务数据集中存储，便于统计、审计和后续维护。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围绕角色、基础资料、诊疗业务、药品收费四组核心数据建模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664000" cy="243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1200" y="1065600"/>
            <a:ext cx="2361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账号权限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200" y="1317600"/>
            <a:ext cx="2361600" cy="2015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roles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users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operation_logs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audit_log_details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24000" y="2142000"/>
            <a:ext cx="287999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11999" y="972000"/>
            <a:ext cx="2664000" cy="243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3199" y="1065600"/>
            <a:ext cx="2361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基础资料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3199" y="1317600"/>
            <a:ext cx="2361600" cy="2015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departments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doctors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patients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doctor_schedules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76000" y="2142000"/>
            <a:ext cx="287999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999" y="972000"/>
            <a:ext cx="2664000" cy="243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200" y="1065600"/>
            <a:ext cx="2361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诊疗业务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200" y="1317600"/>
            <a:ext cx="2361600" cy="2015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registrations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medical_records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examinations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prescriptions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27999" y="2142000"/>
            <a:ext cx="288001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16000" y="972000"/>
            <a:ext cx="2664000" cy="243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7200" y="1065600"/>
            <a:ext cx="2361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药品收费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7200" y="1317600"/>
            <a:ext cx="2361600" cy="2015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drug_categories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drugs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prescription_items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stock_records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bills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payments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fee_statistics_daily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3960000"/>
            <a:ext cx="3311999" cy="612000"/>
          </a:xfrm>
          <a:prstGeom prst="roundRect">
            <a:avLst/>
          </a:prstGeom>
          <a:solidFill>
            <a:srgbClr val="F8FBFD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2400" y="408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1200" y="4053600"/>
            <a:ext cx="2699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50" b="1">
                <a:solidFill>
                  <a:srgbClr val="168A8F"/>
                </a:solidFill>
                <a:latin typeface="微软雅黑"/>
              </a:defRPr>
            </a:pPr>
            <a:r>
              <a:t>患者/医生/排班</a:t>
            </a:r>
            <a:br/>
            <a:r>
              <a:t>生成挂号记录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00000" y="3960000"/>
            <a:ext cx="3311999" cy="612000"/>
          </a:xfrm>
          <a:prstGeom prst="roundRect">
            <a:avLst/>
          </a:prstGeom>
          <a:solidFill>
            <a:srgbClr val="F8FBFD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22400" y="4082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1200" y="4053600"/>
            <a:ext cx="2699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50" b="1">
                <a:solidFill>
                  <a:srgbClr val="3C8C63"/>
                </a:solidFill>
                <a:latin typeface="微软雅黑"/>
              </a:defRPr>
            </a:pPr>
            <a:r>
              <a:t>挂号关联</a:t>
            </a:r>
            <a:br/>
            <a:r>
              <a:t>病历、检查、处方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0000" y="3960000"/>
            <a:ext cx="3311999" cy="612000"/>
          </a:xfrm>
          <a:prstGeom prst="roundRect">
            <a:avLst/>
          </a:prstGeom>
          <a:solidFill>
            <a:srgbClr val="F8FBFD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02400" y="4082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1200" y="4053600"/>
            <a:ext cx="2699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50" b="1">
                <a:solidFill>
                  <a:srgbClr val="D7823A"/>
                </a:solidFill>
                <a:latin typeface="微软雅黑"/>
              </a:defRPr>
            </a:pPr>
            <a:r>
              <a:t>处方关联库存</a:t>
            </a:r>
            <a:br/>
            <a:r>
              <a:t>账单支付完成闭环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核心实现方案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用项目中的真实工程结构支撑答辩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556000" cy="1944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2400" y="1094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200" y="1065600"/>
            <a:ext cx="1943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通信协议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200" y="1317600"/>
            <a:ext cx="2253600" cy="153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QTcpSocket 长连接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JSON Lines 请求/响应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module + action 定位接口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000" y="972000"/>
            <a:ext cx="2556000" cy="1944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98400" y="1094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7200" y="1065600"/>
            <a:ext cx="1943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权限路由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7200" y="1317600"/>
            <a:ext cx="2253600" cy="153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RequestRouter 统一鉴权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按角色控制模块动作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公开接口限制在预约相关功能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972000"/>
            <a:ext cx="2556000" cy="1944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14400" y="1094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3199" y="1065600"/>
            <a:ext cx="1943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业务服务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3200" y="1317600"/>
            <a:ext cx="2253600" cy="153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Patient/Registration/Schedule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Consultation/Examination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Prescription/Inventory/Billing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7999" y="972000"/>
            <a:ext cx="2556000" cy="1944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30399" y="1094400"/>
            <a:ext cx="309600" cy="309600"/>
          </a:xfrm>
          <a:prstGeom prst="ellipse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9200" y="1065600"/>
            <a:ext cx="1943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数据访问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9200" y="1317600"/>
            <a:ext cx="2253600" cy="153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DatabaseManager 连接 MySQL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QODBC/QMYSQL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连接异常提示与演示模式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68000" y="3780000"/>
            <a:ext cx="9360000" cy="827999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19200" y="3873600"/>
            <a:ext cx="9057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答辩强调点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9200" y="4125600"/>
            <a:ext cx="9057600" cy="413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患者预约、医生排班、药品入库等核心写入均可落到 MySQL；页面支持查询、分页、刷新和状态维护，不是固定演示数据。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答辩演示路线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现场演示时用一条最稳的主流程体现系统完整度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3384000" cy="108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2400" y="120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200" y="1173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患者预约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200" y="1425600"/>
            <a:ext cx="3081600" cy="66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选择科室、医生和时段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8000" y="1080000"/>
            <a:ext cx="3384000" cy="108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70400" y="1202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9200" y="1173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挂号管理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9200" y="1425600"/>
            <a:ext cx="3081600" cy="66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医院端刷新查看挂号单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6000" y="1080000"/>
            <a:ext cx="3384000" cy="108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58400" y="1202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7200" y="1173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候诊叫号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7200" y="1425600"/>
            <a:ext cx="3081600" cy="66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更新患者候诊状态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2592000"/>
            <a:ext cx="3384000" cy="108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2400" y="2714400"/>
            <a:ext cx="309600" cy="309600"/>
          </a:xfrm>
          <a:prstGeom prst="ellipse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200" y="2685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医生接诊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200" y="2937600"/>
            <a:ext cx="3081600" cy="66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填写病历和诊断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48000" y="2592000"/>
            <a:ext cx="3384000" cy="108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70400" y="2714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9200" y="2685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处方药房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9200" y="2937600"/>
            <a:ext cx="3081600" cy="66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审核处方并发药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6000" y="2592000"/>
            <a:ext cx="3384000" cy="108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58400" y="2714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7200" y="2685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收费统计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7200" y="2937600"/>
            <a:ext cx="3081600" cy="66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账单支付和收入统计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0000" y="4320000"/>
            <a:ext cx="9468000" cy="792000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1200" y="4413600"/>
            <a:ext cx="9165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演示原则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1200" y="4665600"/>
            <a:ext cx="9165600" cy="37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优先展示已经稳定的数据链路；如果现场 MySQL 环境异常，可说明系统保留演示模式，用于展示界面和流程。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工作方案与进度安排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按软件工程过程推进，每个阶段都有明确产出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440000"/>
            <a:ext cx="1674000" cy="160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2400" y="156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200" y="1533600"/>
            <a:ext cx="106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需求与开题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200" y="1785600"/>
            <a:ext cx="1371600" cy="118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2025.12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调研/需求/模块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34000" y="2250000"/>
            <a:ext cx="216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86000" y="1440000"/>
            <a:ext cx="1674000" cy="160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08400" y="1562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7200" y="1533600"/>
            <a:ext cx="106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总体设计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7200" y="1785600"/>
            <a:ext cx="1371600" cy="118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2026.01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架构/数据库/原型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60000" y="2250000"/>
            <a:ext cx="216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12000" y="1440000"/>
            <a:ext cx="1674000" cy="160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34400" y="1562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3200" y="1533600"/>
            <a:ext cx="106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核心开发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3200" y="1785600"/>
            <a:ext cx="1371600" cy="118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2026.02-03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挂号/排班/接诊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86000" y="2250000"/>
            <a:ext cx="216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37999" y="1440000"/>
            <a:ext cx="1674000" cy="160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0399" y="1562400"/>
            <a:ext cx="309600" cy="309600"/>
          </a:xfrm>
          <a:prstGeom prst="ellipse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9200" y="1533600"/>
            <a:ext cx="106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扩展开发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9200" y="1785600"/>
            <a:ext cx="1371600" cy="118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2026.03-04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检查/处方/收费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11999" y="2250000"/>
            <a:ext cx="216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63999" y="1440000"/>
            <a:ext cx="1674000" cy="160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86399" y="1562400"/>
            <a:ext cx="309600" cy="309600"/>
          </a:xfrm>
          <a:prstGeom prst="ellipse">
            <a:avLst/>
          </a:prstGeom>
          <a:solidFill>
            <a:srgbClr val="B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5200" y="1533600"/>
            <a:ext cx="106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B84D4D"/>
                </a:solidFill>
                <a:latin typeface="微软雅黑"/>
              </a:defRPr>
            </a:pPr>
            <a:r>
              <a:t>测试部署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5200" y="1785600"/>
            <a:ext cx="1371600" cy="118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2026.04-05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联调/多环境验证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737999" y="2250000"/>
            <a:ext cx="216001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990000" y="1440000"/>
            <a:ext cx="1674000" cy="160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12400" y="156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1200" y="1533600"/>
            <a:ext cx="106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论文答辩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1200" y="1785600"/>
            <a:ext cx="1371600" cy="118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2026.05-06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论文/PPT/提交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24000" y="3960000"/>
            <a:ext cx="9720000" cy="917999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5200" y="4053600"/>
            <a:ext cx="9417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测试重点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5200" y="4305600"/>
            <a:ext cx="9417600" cy="503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按患者、挂号员、医生、药房人员、收费员、科主任、管理员等角色分别验证；重点检查号源扣减、候诊状态、处方发药、库存变化、收费统计和操作日志。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预期成果与项目特色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答辩时突出完整业务链和工程化实现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954000"/>
            <a:ext cx="3456000" cy="2376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1200" y="1047600"/>
            <a:ext cx="3153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预期成果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200" y="1299600"/>
            <a:ext cx="3153600" cy="1961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可运行的 C/S 门诊管理系统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MySQL 建库脚本和演示数据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跨平台构建与运行脚本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开题报告、论文和答辩材料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0" y="954000"/>
            <a:ext cx="3456000" cy="2376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200" y="1047600"/>
            <a:ext cx="3153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项目特色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200" y="1299600"/>
            <a:ext cx="3153600" cy="1961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患者入口与医院人员入口分离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角色权限驱动菜单和接口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排班号源影响预约挂号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处方、药品、收费形成联动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954000"/>
            <a:ext cx="3240000" cy="2376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1200" y="1047600"/>
            <a:ext cx="2937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可展示亮点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1200" y="1299600"/>
            <a:ext cx="2937600" cy="1961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候诊队列与叫号状态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扫码入库与库存预警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费用统计和图表展示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操作日志与审计追踪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风险分析与解决措施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提前准备答辩老师可能关注的问题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3384000" cy="259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4400" y="1202400"/>
            <a:ext cx="309600" cy="309600"/>
          </a:xfrm>
          <a:prstGeom prst="ellipse">
            <a:avLst/>
          </a:prstGeom>
          <a:solidFill>
            <a:srgbClr val="B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200" y="1173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B84D4D"/>
                </a:solidFill>
                <a:latin typeface="微软雅黑"/>
              </a:defRPr>
            </a:pPr>
            <a:r>
              <a:t>数据库环境差异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200" y="1425600"/>
            <a:ext cx="3081600" cy="217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配置文件管理连接参数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支持 QODBC/QMYSQL 两种方向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保留演示模式验证流程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6000" y="1080000"/>
            <a:ext cx="3384000" cy="259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78400" y="1202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7200" y="1173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业务状态不同步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200" y="1425600"/>
            <a:ext cx="3081600" cy="217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挂号成功扣减号源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列表支持手动刷新和自动刷新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核心状态由服务端统一维护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0000" y="1080000"/>
            <a:ext cx="3384000" cy="259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02400" y="120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1200" y="1173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模块多导致测试遗漏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1200" y="1425600"/>
            <a:ext cx="3081600" cy="217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按角色设计测试用例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从建档到收费做端到端验证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操作日志辅助定位问题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40000" y="4356000"/>
            <a:ext cx="9288000" cy="792000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91200" y="4449600"/>
            <a:ext cx="8985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应对策略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1200" y="4701600"/>
            <a:ext cx="8985600" cy="37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系统功能优先保证主流程稳定，再补充统计、日志、自动刷新等增强能力；答辩演示以稳定链路为主。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0" y="2250000"/>
            <a:ext cx="8568000" cy="46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请各位老师批评指正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0" y="2934000"/>
            <a:ext cx="8568000" cy="28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1400" b="0">
                <a:solidFill>
                  <a:srgbClr val="C9DDE8"/>
                </a:solidFill>
                <a:latin typeface="微软雅黑"/>
              </a:defRPr>
            </a:pPr>
            <a:r>
              <a:t>基于 Qt 和 MySQL 的医院门诊挂号与药品管理系统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384000"/>
            <a:ext cx="8568000" cy="23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1100" b="0">
                <a:solidFill>
                  <a:srgbClr val="DCE9EF"/>
                </a:solidFill>
                <a:latin typeface="微软雅黑"/>
              </a:defRPr>
            </a:pPr>
            <a:r>
              <a:t>学生：刘子航    指导教师：李长毅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